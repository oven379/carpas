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b714d4a0d464a" /><Relationship Type="http://schemas.openxmlformats.org/officeDocument/2006/relationships/extended-properties" Target="/docProps/app.xml" Id="Re98fdb8c412043b0" /><Relationship Type="http://schemas.openxmlformats.org/officeDocument/2006/relationships/officeDocument" Target="/ppt/presentation.xml" Id="R9f45f9d6613849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d84bdee8594bab"/>
  </p:sldMasterIdLst>
  <p:notesMasterIdLst>
    <p:notesMasterId xmlns:r="http://schemas.openxmlformats.org/officeDocument/2006/relationships" r:id="R173fb9fb84984147"/>
  </p:notesMasterIdLst>
  <p:sldIdLst>
    <p:sldId xmlns:r="http://schemas.openxmlformats.org/officeDocument/2006/relationships" id="256" r:id="Rdd3ea7625aaa4172"/>
    <p:sldId xmlns:r="http://schemas.openxmlformats.org/officeDocument/2006/relationships" id="257" r:id="R146c47b5fed94897"/>
    <p:sldId xmlns:r="http://schemas.openxmlformats.org/officeDocument/2006/relationships" id="258" r:id="Rcbcf026d068a4dab"/>
    <p:sldId xmlns:r="http://schemas.openxmlformats.org/officeDocument/2006/relationships" id="259" r:id="R47bc73061ac945e3"/>
    <p:sldId xmlns:r="http://schemas.openxmlformats.org/officeDocument/2006/relationships" id="260" r:id="R3989abde7f444789"/>
    <p:sldId xmlns:r="http://schemas.openxmlformats.org/officeDocument/2006/relationships" id="261" r:id="R4186602ac947447b"/>
    <p:sldId xmlns:r="http://schemas.openxmlformats.org/officeDocument/2006/relationships" id="262" r:id="R325380f7a96d41bb"/>
    <p:sldId xmlns:r="http://schemas.openxmlformats.org/officeDocument/2006/relationships" id="263" r:id="Rb0bc808dcb084682"/>
    <p:sldId xmlns:r="http://schemas.openxmlformats.org/officeDocument/2006/relationships" id="264" r:id="Rcbafbc6bbcb546d1"/>
    <p:sldId xmlns:r="http://schemas.openxmlformats.org/officeDocument/2006/relationships" id="265" r:id="Ra45cb539fa594d7c"/>
    <p:sldId xmlns:r="http://schemas.openxmlformats.org/officeDocument/2006/relationships" id="266" r:id="R971ec2cbfcc94196"/>
    <p:sldId xmlns:r="http://schemas.openxmlformats.org/officeDocument/2006/relationships" id="267" r:id="Rb16573b66fb04988"/>
    <p:sldId xmlns:r="http://schemas.openxmlformats.org/officeDocument/2006/relationships" id="268" r:id="R05e8ca6bcd4e4d73"/>
    <p:sldId xmlns:r="http://schemas.openxmlformats.org/officeDocument/2006/relationships" id="269" r:id="R8e091bb42bf44a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1ad541613a4292" /><Relationship Type="http://schemas.openxmlformats.org/officeDocument/2006/relationships/slideMaster" Target="/ppt/slideMasters/slideMaster1.xml" Id="Re7d84bdee8594bab" /><Relationship Type="http://schemas.openxmlformats.org/officeDocument/2006/relationships/notesMaster" Target="/ppt/notesMasters/notesMaster1.xml" Id="R173fb9fb84984147" /><Relationship Type="http://schemas.openxmlformats.org/officeDocument/2006/relationships/presProps" Target="/ppt/presProps.xml" Id="Rb7744a4cd3b94380" /><Relationship Type="http://schemas.openxmlformats.org/officeDocument/2006/relationships/viewProps" Target="/ppt/viewProps.xml" Id="R26be4f352dba40d0" /><Relationship Type="http://schemas.openxmlformats.org/officeDocument/2006/relationships/tableStyles" Target="/ppt/tableStyles.xml" Id="R02881091148b46d0" /><Relationship Type="http://schemas.openxmlformats.org/officeDocument/2006/relationships/slide" Target="/ppt/slides/slide1.xml" Id="Rdd3ea7625aaa4172" /><Relationship Type="http://schemas.openxmlformats.org/officeDocument/2006/relationships/slide" Target="/ppt/slides/slide2.xml" Id="R146c47b5fed94897" /><Relationship Type="http://schemas.openxmlformats.org/officeDocument/2006/relationships/slide" Target="/ppt/slides/slide3.xml" Id="Rcbcf026d068a4dab" /><Relationship Type="http://schemas.openxmlformats.org/officeDocument/2006/relationships/slide" Target="/ppt/slides/slide4.xml" Id="R47bc73061ac945e3" /><Relationship Type="http://schemas.openxmlformats.org/officeDocument/2006/relationships/slide" Target="/ppt/slides/slide5.xml" Id="R3989abde7f444789" /><Relationship Type="http://schemas.openxmlformats.org/officeDocument/2006/relationships/slide" Target="/ppt/slides/slide6.xml" Id="R4186602ac947447b" /><Relationship Type="http://schemas.openxmlformats.org/officeDocument/2006/relationships/slide" Target="/ppt/slides/slide7.xml" Id="R325380f7a96d41bb" /><Relationship Type="http://schemas.openxmlformats.org/officeDocument/2006/relationships/slide" Target="/ppt/slides/slide8.xml" Id="Rb0bc808dcb084682" /><Relationship Type="http://schemas.openxmlformats.org/officeDocument/2006/relationships/slide" Target="/ppt/slides/slide9.xml" Id="Rcbafbc6bbcb546d1" /><Relationship Type="http://schemas.openxmlformats.org/officeDocument/2006/relationships/slide" Target="/ppt/slides/slide10.xml" Id="Ra45cb539fa594d7c" /><Relationship Type="http://schemas.openxmlformats.org/officeDocument/2006/relationships/slide" Target="/ppt/slides/slide11.xml" Id="R971ec2cbfcc94196" /><Relationship Type="http://schemas.openxmlformats.org/officeDocument/2006/relationships/slide" Target="/ppt/slides/slide12.xml" Id="Rb16573b66fb04988" /><Relationship Type="http://schemas.openxmlformats.org/officeDocument/2006/relationships/slide" Target="/ppt/slides/slide13.xml" Id="R05e8ca6bcd4e4d73" /><Relationship Type="http://schemas.openxmlformats.org/officeDocument/2006/relationships/slide" Target="/ppt/slides/slide14.xml" Id="R8e091bb42bf44a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fe2a684f34c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6f2de6aa84493" /><Relationship Type="http://schemas.openxmlformats.org/officeDocument/2006/relationships/notesMaster" Target="/ppt/notesMasters/notesMaster1.xml" Id="R6c0288e7352a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f260648d447e9" /><Relationship Type="http://schemas.openxmlformats.org/officeDocument/2006/relationships/notesMaster" Target="/ppt/notesMasters/notesMaster1.xml" Id="R735d58412f59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ff82c908b4c90" /><Relationship Type="http://schemas.openxmlformats.org/officeDocument/2006/relationships/notesMaster" Target="/ppt/notesMasters/notesMaster1.xml" Id="Radcb72ded161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0582b5249541dd" /><Relationship Type="http://schemas.openxmlformats.org/officeDocument/2006/relationships/notesMaster" Target="/ppt/notesMasters/notesMaster1.xml" Id="Re220421b7c174d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edddace9d446f" /><Relationship Type="http://schemas.openxmlformats.org/officeDocument/2006/relationships/notesMaster" Target="/ppt/notesMasters/notesMaster1.xml" Id="Rf516fa25db4e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57002ee18f4fda" /><Relationship Type="http://schemas.openxmlformats.org/officeDocument/2006/relationships/notesMaster" Target="/ppt/notesMasters/notesMaster1.xml" Id="R11926527a41249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d86885c4d4d5e" /><Relationship Type="http://schemas.openxmlformats.org/officeDocument/2006/relationships/notesMaster" Target="/ppt/notesMasters/notesMaster1.xml" Id="Raeab7607aa98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05dfc663184199" /><Relationship Type="http://schemas.openxmlformats.org/officeDocument/2006/relationships/notesMaster" Target="/ppt/notesMasters/notesMaster1.xml" Id="R9f8b9ce5efdc41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a8407e05be42fa" /><Relationship Type="http://schemas.openxmlformats.org/officeDocument/2006/relationships/notesMaster" Target="/ppt/notesMasters/notesMaster1.xml" Id="Rf04de680e66c4f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8ea8896bc345b3" /><Relationship Type="http://schemas.openxmlformats.org/officeDocument/2006/relationships/notesMaster" Target="/ppt/notesMasters/notesMaster1.xml" Id="Rcc4e4177ec494c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68e606d9e4603" /><Relationship Type="http://schemas.openxmlformats.org/officeDocument/2006/relationships/notesMaster" Target="/ppt/notesMasters/notesMaster1.xml" Id="Re4a1ad4a5d90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2eeb16388e4794" /><Relationship Type="http://schemas.openxmlformats.org/officeDocument/2006/relationships/notesMaster" Target="/ppt/notesMasters/notesMaster1.xml" Id="R8ae966da7baf42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74d2525e74419c" /><Relationship Type="http://schemas.openxmlformats.org/officeDocument/2006/relationships/notesMaster" Target="/ppt/notesMasters/notesMaster1.xml" Id="R0781934ba9994d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67bc3e8bf84cab" /><Relationship Type="http://schemas.openxmlformats.org/officeDocument/2006/relationships/notesMaster" Target="/ppt/notesMasters/notesMaster1.xml" Id="R8dec1818f639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Открытие. Представиться: 15 лет в маркетинге, своя система КарПас. Сразу задать тон: это практичная встреча, а не лекция про IT. Для 30-минутной версии пройти этот слайд за 2-3 минуты.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тезис: до внедрения CRM нужно признать точки потерь. Попросить зал мысленно отметить, где они узнают себя. Здесь хорошо работают живые примеры: заявка в WhatsApp, администратор ушел, владелец не понял, кто должен перезвонить.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интерактив на 5-7 минут в большой версии. В 30-минутной версии попросить участников просто посчитать ответы “нет” в голове. Финальная фраза подводит к ценности CRM без прямой продажи.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Пояснить: цифровизация не начинается с дорогих интеграций. Она начинается с того, что заявка, клиент, автомобиль и следующий шаг фиксируются в системе. Это мост к КарПас.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Важно: говорить только о том, что уже есть или видно в проекте. Не обещать кассу, склад, IP-телефонию и сквозную аналитику как готовые встроенные функции. Их можно назвать как будущие или внешние элементы цифровой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нужно показать простым. Уточнить: сейчас заявка подтверждается через админ-панель, после подтверждения логин и пароль приходят на почту. Это снимает страх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Сказать: ограниченные платформы можно обсуждать прагматично, если они дают трафик и записи, но для России базовая опора — Яндекс, карты, Авито, VK, Telegram и локальные партнерства.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Пояснить: эти связки легче продвигать в рекламе, потому что клиент узнает свою ситуацию. В CRM важно сохранить, какая услуга была куплена, чтобы потом предложить следующий логичный шаг.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Сделать акцент: отзывы — не “приятный бонус”, а часть маркетингового процесса. После выдачи авто клиент максимально готов оставить отзыв, если результат свежий и есть фото.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Тезис: повторная продажа не возникает через полгода сама. Ее надо планировать в момент визита. Пример: после керамики назначить контрольный уход; после ТО — следующий пробег или сезонную проверку.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финальный практический блок большой версии. Важно не перегружать: цель не идеальная автоматизация, а быстрый старт, после которого сервис уже видит клиентов, авто и повторные контакты.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можно не показывать аудитории, но он полезен тебе как навигация. Для 30 минут не пытаться пройти все: нужно сохранить тезис, мини-аудит, продукт и QR.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Можно распечатать чек-лист отдельно или отправить после выступления. Здесь снова закрепляем простое действие: не купить сложную систему, а начать фиксировать бизнес в КарПас.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Финал. Попросить открыть QR или сайт. Объяснить подключение: заявка, подтверждение через админ-панель, логин и пароль на почту, настройка лендинга и кабинета. Если будет настоящий QR, заменить серый блок на изображение.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8b3c0b1d94c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1a1d7d9354edb" /><Relationship Type="http://schemas.openxmlformats.org/officeDocument/2006/relationships/slideLayout" Target="/ppt/slideLayouts/slideLayout1.xml" Id="R10977363ee1b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77363ee1b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21123b6c4d0b" /><Relationship Type="http://schemas.openxmlformats.org/officeDocument/2006/relationships/notesSlide" Target="/ppt/notesSlides/notesSlide1.xml" Id="R4956149ca6a5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116e3281d47ff" /><Relationship Type="http://schemas.openxmlformats.org/officeDocument/2006/relationships/notesSlide" Target="/ppt/notesSlides/notesSlide2.xml" Id="R3898cc8da969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e27de285a44bb" /><Relationship Type="http://schemas.openxmlformats.org/officeDocument/2006/relationships/notesSlide" Target="/ppt/notesSlides/notesSlide3.xml" Id="R0a1df4fd8e174b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9af48a23466d" /><Relationship Type="http://schemas.openxmlformats.org/officeDocument/2006/relationships/notesSlide" Target="/ppt/notesSlides/notesSlide4.xml" Id="R8a697342d03e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82ab5fb2546bb" /><Relationship Type="http://schemas.openxmlformats.org/officeDocument/2006/relationships/notesSlide" Target="/ppt/notesSlides/notesSlide5.xml" Id="Rf50ca07b91e542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e53f32c2149db" /><Relationship Type="http://schemas.openxmlformats.org/officeDocument/2006/relationships/notesSlide" Target="/ppt/notesSlides/notesSlide6.xml" Id="R4e927aa4bf9f46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449041ec541c0" /><Relationship Type="http://schemas.openxmlformats.org/officeDocument/2006/relationships/notesSlide" Target="/ppt/notesSlides/notesSlide7.xml" Id="R31d16d388f3c4c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1b7d334d41c5" /><Relationship Type="http://schemas.openxmlformats.org/officeDocument/2006/relationships/notesSlide" Target="/ppt/notesSlides/notesSlide8.xml" Id="R139ec54c54a04c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e704523df4b21" /><Relationship Type="http://schemas.openxmlformats.org/officeDocument/2006/relationships/notesSlide" Target="/ppt/notesSlides/notesSlide9.xml" Id="Rdb1e37d3dec04e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62010e5034334" /><Relationship Type="http://schemas.openxmlformats.org/officeDocument/2006/relationships/notesSlide" Target="/ppt/notesSlides/notesSlide10.xml" Id="R040cb839df3441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d55cb8e3b4e79" /><Relationship Type="http://schemas.openxmlformats.org/officeDocument/2006/relationships/notesSlide" Target="/ppt/notesSlides/notesSlide11.xml" Id="R51c20b1645f14c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2c01e38014854" /><Relationship Type="http://schemas.openxmlformats.org/officeDocument/2006/relationships/notesSlide" Target="/ppt/notesSlides/notesSlide12.xml" Id="Re2915e6134cd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485cfdc04efe" /><Relationship Type="http://schemas.openxmlformats.org/officeDocument/2006/relationships/notesSlide" Target="/ppt/notesSlides/notesSlide13.xml" Id="R4fb7dc11714140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f2007cb54f84" /><Relationship Type="http://schemas.openxmlformats.org/officeDocument/2006/relationships/notesSlide" Target="/ppt/notesSlides/notesSlide14.xml" Id="Rf4fb122f3c4b40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98FAD-A3DF-466C-8FB1-19A3016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22C78-B2F1-4BF4-9B13-B4941ED4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1F"/>
          </a:solidFill>
          <a:ln xmlns:a="http://schemas.openxmlformats.org/drawingml/2006/main" w="0">
            <a:solidFill>
              <a:srgbClr val="1525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C906-EDD1-4AA6-87E5-223D201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19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3F35"/>
          </a:solidFill>
          <a:ln xmlns:a="http://schemas.openxmlformats.org/drawingml/2006/main" w="9525">
            <a:solidFill>
              <a:srgbClr val="243F35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2DD"/>
                </a:solidFill>
                <a:latin typeface="Arial"/>
                <a:ea typeface="Arial"/>
                <a:cs typeface="Arial"/>
              </a:defRPr>
            </a:pPr>
            <a:r>
              <a:t>офлайн · 2×45 минут · есть версия на 30 минут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1D32-69D9-41FA-9FAE-8B4B4053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1F"/>
          </a:solidFill>
          <a:ln xmlns:a="http://schemas.openxmlformats.org/drawingml/2006/main" w="0">
            <a:solidFill>
              <a:srgbClr val="15251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Цифровизация и маркетинг детейлинга / СТО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4C161-E6C3-4007-B6E5-6A325FF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1F"/>
          </a:solidFill>
          <a:ln xmlns:a="http://schemas.openxmlformats.org/drawingml/2006/main" w="0">
            <a:solidFill>
              <a:srgbClr val="15251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7E1"/>
                </a:solidFill>
                <a:latin typeface="Arial"/>
                <a:ea typeface="Arial"/>
                <a:cs typeface="Arial"/>
              </a:defRPr>
            </a:pPr>
            <a:r>
              <a:t>Как перестать терять заявки, клиентов и повторные продажи — и начать вести бизнес через КарПас CRM.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9CA6F-9B39-4FF4-8BE9-2A0BE8A2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38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EE43E-A6B8-4D71-BDD9-A2FC171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КарПас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B5A9E-842C-4E96-A5FE-F96F5AA8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F2E7"/>
                </a:solidFill>
                <a:latin typeface="Arial"/>
                <a:ea typeface="Arial"/>
                <a:cs typeface="Arial"/>
              </a:defRPr>
            </a:pPr>
            <a:r>
              <a:t>carpasss.ru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33D0B-A29D-4D60-BF9A-420309F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1F"/>
          </a:solidFill>
          <a:ln xmlns:a="http://schemas.openxmlformats.org/drawingml/2006/main" w="0">
            <a:solidFill>
              <a:srgbClr val="15251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7E1"/>
                </a:solidFill>
                <a:latin typeface="Arial"/>
                <a:ea typeface="Arial"/>
                <a:cs typeface="Arial"/>
              </a:defRPr>
            </a:pPr>
            <a:r>
              <a:t>Цель выступления: не “рассказать про программу”, а показать владельцу, где он уже теряет деньги и как быстро закрыть эти потери.</a:t>
            </a:r>
          </a:p>
        </p:txBody>
      </p:sp>
    </p:spTree>
    <p:extLst>
      <p:ext uri="{BB962C8B-B14F-4D97-AF65-F5344CB8AC3E}">
        <p14:creationId xmlns:p14="http://schemas.microsoft.com/office/powerpoint/2010/main" val="14644689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982394-57EC-4A2C-A8EF-FF3DB8A1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88579-F510-4BF8-8C4D-9E321E5F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карта потерь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525E8-A89F-40AE-A6CB-E5CC38D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Сервис теряет деньги не только из-за слабой рекламы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AF05F-1D2B-41A3-9ACB-858CF8A1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2DEDE-B992-45F7-BDA4-AF1FB8F7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741E8-5C45-4CE8-BBDB-6DF989D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Заявки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3C729-7D60-4BD2-A9D4-F5B84D5A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Пишут в разные мессенджеры, часть обращений остается без ответа.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4C229-5242-40B2-88A5-4867A17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24459-1E17-4E2B-8790-0ECE97D9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Запись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61ED0-DD70-4EEA-B0E3-0596C8F6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5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Время, клиент, авто и ответственный держатся в голове или блокноте.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D42D3-08DE-4814-A359-2263116D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0500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EF87F-2AAF-4509-B075-F056FEA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История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AFD07-3305-424B-BC0D-C2A78D3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Непонятно, что делали с машиной раньше и какие рекомендации давали.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655AB-1333-4BC2-B125-DF536B5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A316-3576-4576-A62E-960EDE42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Повторы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8FC0D-F53D-4DAA-A651-4A03594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Клиент уехал после услуги — и сервис ждет, что он сам вспомнит вернуться.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83485-3968-4B0C-9C0B-C81F038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723B5-6387-489B-8B43-0912A1B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Реклама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8514E-7F60-4F1B-A526-ED486FA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Клики есть, а какие каналы дают реальных клиентов — не видно.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A05BF-26F0-4529-8752-10DE858B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25351-ACB6-4729-A65F-BE097D7D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Отзывы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594C9-0881-4138-B906-BC73ED1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Отзыв просят случайно, репутация на картах растет медленно.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EF4E2-27DF-422C-B2C6-D6012A2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B1801-3B62-4E84-BAA9-1EAE573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66023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781325-5390-4A5B-90AB-3EBACF6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C4577-1354-4A31-BED9-AB7A7BF5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40F7F-C7C7-4C22-81F1-CC8BB444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Мини-аудит: 10 вопросов к владельцу или управляющему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0DC38-8DE0-409F-89CB-884F5ACE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DDF9A-19EB-42E3-B694-F2CA5B00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8134E-5EFD-4AA5-9B90-86853E60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02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Все заявки попадают в одну систему?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E2829-C72C-4B6E-A8E9-1A7ED28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E35CD-9FB6-43B1-99FE-6912A74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4317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Есть карточка клиента и автомобиля?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6711C-6FBC-4AE7-9AF0-F12A7892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3F2EC-FE82-47E3-BCA0-9665B22E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Видно, кто ответственный за клиента?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6330-488E-4533-8A04-58D2CBB7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FA853-637B-4AEB-ABA2-7E591CB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907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Фиксируется история визитов и фото?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9532C-CF77-4BE3-B377-7D46874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1A88B-D867-4CA5-8323-FD50BA1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720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Есть дата следующего контакта?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544B4-3D49-4184-8B77-07238FC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D464F-75A6-463C-96E5-3A7F1CB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02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Можно найти клиента по телефону, VIN или номеру?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FF6B2-7A17-40FF-9331-38855EF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DDA0C-D668-4336-BF16-E1A2FFA3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Понятно, какие клиенты давно не были?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49F4C-6539-4F47-8F15-B86027E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14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BC354-1A79-4B28-A683-578BE0B6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Отзывы собираются после выдачи авто?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6A580-4487-4822-945F-CDEABA45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2D43A-3645-403F-A075-1351B93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2907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Есть публичная страница сервиса?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D82F7-24FE-48C3-9D99-D747313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00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0790A-D25C-4827-8061-FFA265D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720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Можно быстро подключить нового клиента к истории авто?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E5966-54B0-40FF-B04A-1BE43CEE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19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FFF1C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A4A09"/>
                </a:solidFill>
                <a:latin typeface="Arial"/>
                <a:ea typeface="Arial"/>
                <a:cs typeface="Arial"/>
              </a:defRPr>
            </a:pPr>
            <a:r>
              <a:t>Если 4+ пунктов не выполняются, бизнес уже теряет деньги в управлении и маркетинге.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EC69D-89F1-44B2-9B63-19C8312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A30A0-45F6-43EA-9AC5-02E9DE2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0282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88117-04C0-4F0F-B98F-252AAB2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7C309-9D57-4EBE-BC43-9E7E200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49F1-E073-441C-8CA6-E5106802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Цифровизация — это путь клиента от заявки до повторного визита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91A6-4F1E-4A20-B59A-ADFDC9E0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43754-5440-4B3A-BB1F-C0CC188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EA6"/>
                </a:solidFill>
                <a:latin typeface="Arial"/>
                <a:ea typeface="Arial"/>
                <a:cs typeface="Arial"/>
              </a:defRPr>
            </a:pPr>
            <a:r>
              <a:t>1. Заявка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EFC52-5906-44DA-8D4C-3DDF2F1A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телефон · сайт · карты · мессенджеры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25ACF-C686-439B-8A81-7A07F5C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0731-C3DB-450D-99EA-109A2056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908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2. Клиент и авто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F9F09-6598-464E-93A3-C89FC1A4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имя · телефон · VIN · госномер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AAA19-A390-4442-BBD0-9A1DE38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DD0AF-3AE7-407D-874D-B1A064E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3. Визит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1E912-FAA5-4D45-9DFE-0C3857D5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услуги · пробег · мастер · фото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3AB20-134D-4ACF-8E8C-C001E80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C5504-581C-48CA-8EA6-B121F92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4. История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79290-2044-4DB2-A5FD-BAA3069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что делали · рекомендации · документы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B9E0A-2875-4E18-A5C6-634C914E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8F4D2-DEF0-4DF3-ACF4-907478DE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69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5. Возврат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AABF8-ED1D-4BE2-9FB2-8510E81A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следующий контакт · отзыв · допродажа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CEFFF-22A9-4D61-B830-0C095B4A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EEF5F0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CRM нужна не “для порядка ради порядка”, а чтобы каждый этап стал видимым, измеримым и повторяемым.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FDC64-70A1-436F-B71B-8CE9152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F4169-BEA9-4AC3-8509-B886A201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78417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4BBF9F-6549-4197-9FE2-6EC4546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09904-15B2-42AC-A19A-0F3395B3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07EC7-E4CB-47FE-93EC-E820431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Что уже закрывает КарПас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FD910-A507-4590-8220-3774102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5AD07-9716-467F-8E66-5B31AE73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CBF92-EC65-493B-AA17-CFDDCB79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Кабинет сервиса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41FCD-0D2B-4693-9A00-C7F1EB3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Детейлинг / СТО ведет автомобили, клиентов и визиты.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ECC6B-E5E5-47CB-8BA4-620226C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6212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DB633-BF2C-4B1A-BDB8-F6D3296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335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Клиенты и авто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F84F8-AD22-40A7-86F4-B7DAAF3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2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Поиск по имени, телефону, VIN и госномеру, заметки по клиенту.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A741-DC4E-4697-BE78-3600294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99213-0175-4F16-B945-D027F58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История визитов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A369A-F639-4461-9F6B-0A02CB2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Пробег, услуги, ТО, фото, документы, рекомендации мастера.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40835-1039-4EE4-9804-DC737DEC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037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47A45-8CD7-4D94-8655-025A527C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Повторные контакты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CB3E6-DE30-40DD-B20E-FBE4BEB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Дата следующего контакта и фильтр “давно не были”.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38F07-A89A-43BA-A13E-D4538B1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1E362-658D-45EF-864A-884CAE3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Публичный лендинг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C3E74-86E3-4046-B4A9-046F105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Город, адрес, услуги, режим работы, соцсети, фото и обложка.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00064-2F49-4B6C-B325-78B6280F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38625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8423E-336F-4B8D-862F-F448CD8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100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Связь с владельцем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180B8-6B54-4A52-A1F7-B9400B2E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01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1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Гараж владельца, заявки на привязку авто, история по ссылке.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04A4C-1C73-4678-941B-3DF4CBDF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КарПас — не просто “список клиентов”: он связывает сервис, автомобиль и владельца через историю обслуживания.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CD47F-A006-4C41-B34B-E255331D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7753C-C5E0-42E7-B20B-F8A6230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8302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98610-8439-420D-A3A9-6E5ECD6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02BBB-4EC7-4FF7-97FD-2A151E9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онбординг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29D79-8D29-4656-88F4-64AAE93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Как подключается сервис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BED50-0A51-47F8-9839-E49D45D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B509-CE4E-4827-885F-FD26595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BC192-0C84-4B6C-95F9-33153A60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Сканирует QR или заходит на carpasss.ru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3F79E-4452-4D5D-B85A-92C61553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80384-E769-4DC2-8A8B-8CC6C6C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95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13EDE-C21B-4F92-8ACE-C935B396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242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8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Оставляет заявку партнера: название, контакты, город, адрес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44923-76B7-4AE6-919F-2C7ED23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246F-2BBB-463E-B0D0-6179BE6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FD54B-9C8B-4FD3-B1DA-912F0AFD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Администратор подтверждает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672DF-96E0-4723-807C-0504DA6A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2B812-18E8-4063-A49E-FCB0FFF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9854-2F52-4945-B75E-4EB5444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На почту приходит логин и пароль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613A8-1E87-47D5-B915-CC83B93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32766-BF32-4454-BA4B-E3E00DF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6A968-A277-49EB-A392-224ACFAE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Сервис настраивает лендинг и начинает вести клиентов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14073-2B26-48FA-98D2-D1F8B77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38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FFF1C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7169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A4A09"/>
                </a:solidFill>
                <a:latin typeface="Arial"/>
                <a:ea typeface="Arial"/>
                <a:cs typeface="Arial"/>
              </a:defRPr>
            </a:pPr>
            <a:r>
              <a:t>Формулировка со сцены: “Сейчас доступ к текущему функционалу на этапе запуска бесплатный”.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1082A-FDD8-4D20-A54D-9CE6600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06A57-32B7-41E2-AB86-6251A5F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6376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EEE30-9F76-4779-B221-D0AF942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B9B1E-A767-492E-A406-DF44C45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50% маркетинг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1388F-655E-4539-9B5D-99FF476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Маркетинг: каналы работают лучше, когда заявки попадают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F912D-743F-4546-90F0-D46ACFB2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6CD76-85B7-4159-8C04-03E5C13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FFC04-D93E-4B0B-B1DA-BA53D6AB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Канал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91612-B8F4-4887-A863-4F5AD862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Примеры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0325F-BAD4-404A-B9A6-178D98A5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954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Что дает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C53F6-96A5-4A04-BD3C-9A4E57B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CB4CC-0A52-42BE-B4E3-18BDC6F7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Карты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19689-96EE-460C-BC0A-59207F3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03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Яндекс Карты · 2ГИС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A0094-D6B1-449B-879C-80D782E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Отзывы, фото, быстрый звонок, локальный спрос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D2254-E754-4AFD-8FB2-F6E7C0D3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BFA7D-28FC-489E-AAC3-1797E79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Поиск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D4B43-F6C2-4501-9A56-86871DBF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86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Яндекс Директ · SEO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0D546-2DE9-44D4-B95C-A351E85B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Горячие запросы: услуга + город + проблема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F874C-EFFA-4597-B934-DDE0B8F6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D6DED-E9E5-4F0B-8FF2-6E798FE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Маркетплейсы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B19CC-FB76-4C06-9328-F7A6239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Авито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25EDD-AEA1-4E5A-8967-44F1AEFB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Быстрые лиды по конкретным услугам и пакетам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9A227-1438-44E0-B252-9A92F24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A17FF-CE8D-4B51-82A4-7888455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Соцсети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65E4E-B9DF-4DD6-A7E6-31BBFB83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577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VK · Telegram · видео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14810-3B1E-4360-93FC-F6AC3489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Доверие, экспертность, кейсы до/после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43BD5-D5F4-4136-8972-BD2AC1B0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EA290-C250-4A22-86B1-F7FC92B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Партнерства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DFB8EB-8AD2-49D5-BA08-D07C305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43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автосалоны · мойки · клубы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3F742E-887F-45F5-8AD7-D3D04F1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FBFCF9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Поток клиентов через соседние автоуслуги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30681-D20E-4DDF-906B-013C0C95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100EA0-01A4-4CFE-BEFD-773FF34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66872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20AF5-4A60-40DB-8FBA-F7CAD0C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6F8E7-F408-4E53-8C23-519805B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примеры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118BB-EE1D-471A-A7AC-6BEECD6D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Рекламные связки: продавать не услугу, а ситуацию клиента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FF8B5-0B93-4BF2-9250-3215E3C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61A28-38EA-49BA-8146-C5B57E7F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41902-5900-42DE-8275-8485BF12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Перед сезоном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7F1C7-8397-470A-9C53-3D1C94C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керамика · антидождь · полировка стекол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18C76-BF71-42CD-B271-3ECD480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00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AC28-B30D-494B-84B3-D27F55B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71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EA6"/>
                </a:solidFill>
                <a:latin typeface="Arial"/>
                <a:ea typeface="Arial"/>
                <a:cs typeface="Arial"/>
              </a:defRPr>
            </a:pPr>
            <a:r>
              <a:t>После зимы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1F46B-B581-4ED2-ABBF-03548E71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химчистка · восстановление ЛКП · мойка двигателя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A3EA5-67C2-48AB-ACF6-7ADC9680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DF7E5-6615-4897-92F5-49F3CEE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Перед продажей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E0CD9-E81F-455A-86E7-2FBC075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полировка · химчистка · фотоотчет истории авто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26781-1FD9-4266-B02C-3800C6B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6B8E9-21C0-42B9-BE47-9B546610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EA6"/>
                </a:solidFill>
                <a:latin typeface="Arial"/>
                <a:ea typeface="Arial"/>
                <a:cs typeface="Arial"/>
              </a:defRPr>
            </a:pPr>
            <a:r>
              <a:t>Новый автомобиль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3F04A-1906-4503-BE1D-D38E8D1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защитная пленка · керамика · первый уход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D7C23-C90E-4FAD-992A-6ADCB317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24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A4952-ADBF-4FA4-8F46-626E8CF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95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Перед поездкой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28181-7996-4C61-9B77-5187BEB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95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диагностика · ТО · проверка ходовой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BE7F6-B1D7-41AE-B6B2-935165C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63EBE-3D87-4A28-AAD3-89143F5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EA6"/>
                </a:solidFill>
                <a:latin typeface="Arial"/>
                <a:ea typeface="Arial"/>
                <a:cs typeface="Arial"/>
              </a:defRPr>
            </a:pPr>
            <a:r>
              <a:t>Комфорт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D8F76-B935-49B3-9781-BDC75C9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шумоизоляция дверей · акустика · уход салона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6B373-EC67-4F09-B91B-D21279A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776AE-69F8-4156-906C-067F9060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41795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A01B4-71A5-4AED-AE4F-569E9507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1A8DC-6544-4B28-A8DB-773DA3F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карты и отзывы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AAAE9-15DC-4C1F-A6C7-EC4C41B3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Репутация — отдельный канал продаж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8C50C-7C34-4AB5-9725-24DE23A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A25A3-C36C-45C3-AAEE-097192CD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Качественная работа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CC04B-6B0A-4D0F-93C1-6A797F0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38AD0-681C-4BE6-9FD2-4DE2C409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953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Фото / видео результата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B307F-F897-4BD9-ADF5-A255C31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DDC24-BF17-4A71-8AF8-16A40B4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FFF1C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Просьба об отзыве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1D7B1-5D19-41D2-A863-DF075BE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0D51-2F97-4CA0-8950-2FC8D69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Ответ на отзыв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123B5-EDD7-4A24-8C2C-51E4658F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11DED-DE92-472A-A9A3-A3A17519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8996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Рост доверия на картах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C5056-14E7-4920-89AD-FE3D8699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8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Что фиксировать в CRM: кто был клиентом, какую услугу сделали, когда выдали авто, кто должен попросить отзыв и когда повторно связаться.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49330-D2B2-47F0-8821-6308414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0BD3D-E717-43D9-AED3-B44E0BC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6645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302D0-395D-47F1-8807-5730A66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FD4B7-6698-4729-9844-EC81A1D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удержание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631A3-D2A7-487F-8645-DDD4541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Повторные продажи начинаются в день первого визита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DB756-1904-4812-BFB7-76F303D6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A36CE-505B-4518-850B-F4C57CB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8BC40-CC2B-482B-BB15-C0A3656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Первый визит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D4528-432E-4EEA-9ACD-FDA358B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51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записали услуги,</a:t>
            </a:r>
          </a:p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пробег, фото,</a:t>
            </a:r>
          </a:p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B7D2-14B5-4B13-9DC5-AD4C3AC6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4581D-C3FC-4062-9F41-A35E8B5F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0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Следующий контакт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C180E-50A0-4A1D-8DA3-D55FDE63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0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напомнить,</a:t>
            </a:r>
          </a:p>
          <a:p xmlns:a="http://schemas.openxmlformats.org/drawingml/2006/main">
            <a:pPr algn="ctr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пригласить,</a:t>
            </a:r>
          </a:p>
          <a:p xmlns:a="http://schemas.openxmlformats.org/drawingml/2006/main">
            <a:pPr algn="ctr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предложить уход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C19C7-E9C8-4CAB-92F0-CE23779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632D-A910-4AA2-A06A-5E65042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Повторный визит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389E5-B500-4D2C-AAF1-173CED7B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85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выше доверие,</a:t>
            </a:r>
          </a:p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ниже стоимость,</a:t>
            </a:r>
          </a:p>
          <a:p xmlns:a="http://schemas.openxmlformats.org/drawingml/2006/main">
            <a:pPr algn="ctr">
              <a:defRPr sz="17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больше средний чек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0845E-B668-4423-8E9F-1B27F6E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0F4F2-DCFA-49A6-9AE4-E083666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813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1F7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C9C48-4B88-4BE9-914C-7233A5A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001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FFF1CF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703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A4A09"/>
                </a:solidFill>
                <a:latin typeface="Arial"/>
                <a:ea typeface="Arial"/>
                <a:cs typeface="Arial"/>
              </a:defRPr>
            </a:pPr>
            <a:r>
              <a:t>В КарПас это поддерживают история визитов, заметки по клиенту и дата следующего контакта.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4073B-A082-462C-BA2B-264014E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5BEB5-B7A8-4B04-B3A3-390E93DA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16986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0370F-E755-472C-A3BE-4D5AB2D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2C4F6-FA60-461D-8B3F-A304D32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7F376-65F3-4FE4-A0FF-F926F84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Что внедрить за 7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F1868-4E7E-4CA8-827B-2281741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F234B-C51A-4B3C-A44E-C83F4D13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День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1D66E-01BC-45E7-82B4-B33862FC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526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Подключить КарПас и заполнить профиль сервиса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C5545-0DC0-40DD-BC9B-DAAED012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4AE40-B4B6-4C20-B0FF-CD3116EC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43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Добавить услуги, адрес, режим работы и публичную страницу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0E262-0EFC-452D-9D16-D770B9A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B49F3-FED7-4A0C-A0A6-E52E768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337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Завести первые 10-20 клиентов и автомобилей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2027B-FF9A-40C1-8469-392F495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BD134-3DFD-4597-8F77-02FCF2D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Начать фиксировать визиты: услуги, пробег, фото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8C9D1-2B32-4059-B2CC-843AA51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E3D47-B956-4115-AB92-7E027740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148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Поставить следующий контакт по каждому активному клиенту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29616-252D-4757-BBF9-F6EBAAE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CFC1E-8C64-4BA0-B284-10CDD327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Попросить отзывы у свежих клиентов и обновить карты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72433-E3A3-4537-A2B1-2EECB3A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614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27AF-F482-4781-BEEF-7F91D08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959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Посмотреть базу: кто давно не был и кого вернуть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2776F-9B7C-4703-9B1C-F8A070B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80178-2D9A-40E4-9259-36C7D81B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81741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A6B99-90A2-4280-8798-CB4FED55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BC7C5-81FB-4C8A-9F60-A9264F01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короткая версия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DC14B-3116-4238-B695-76FB832D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0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Если у вас только 30 минут: оставьте 6 слайдов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DEBB3-CA45-48E8-9354-634241F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3E0CF-2C50-42E8-9DB7-F473881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AD9A5-9C00-4B34-B812-38A1409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52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Открытие и 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51DC-431D-45E0-BFC0-A2748AA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58982-5570-4AB1-9B91-E70A81E0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Карта потерь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E0A60-7B55-44A7-86D0-0B15EDA9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2826-66F8-4147-818F-C74BA6D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Мини-аудит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5C07E-935B-4D5B-98C5-6BFC274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B4C11-03F3-4760-8457-AD99993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71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Что закрывает КарПас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84009-CFF7-434F-AB4E-9FFB3CE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9CE9-A111-43D9-8B89-B3C25B28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Маркетинговые каналы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92C94-FC3E-46DA-8AF2-8D90FAB7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1227A-84DE-4348-A96F-AFCF79E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71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Подключение через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22FE2-B7A4-4530-A06F-FCDDF061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19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CF8"/>
          </a:solidFill>
          <a:ln xmlns:a="http://schemas.openxmlformats.org/drawingml/2006/main" w="9525">
            <a:solidFill>
              <a:srgbClr val="DDECF8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EA6"/>
                </a:solidFill>
                <a:latin typeface="Arial"/>
                <a:ea typeface="Arial"/>
                <a:cs typeface="Arial"/>
              </a:defRPr>
            </a:pPr>
            <a:r>
              <a:t>Остальные слайды держите как резерв для вопросов или длинного формата.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EC12D-29D5-4981-94DD-1E48A86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196E9-ECD5-4865-8310-D6511BA1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84824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394EC-C5B9-4F7A-B5BE-2ADBFB9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C3901-A6F8-417D-BE2E-95B42DD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раздатка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DCB32-AFAF-4583-BE3F-6E77B28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Чек-лист после выступления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B672D-9ECE-4C5B-ADA3-8C2D93D1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7"/>
          </a:solidFill>
          <a:ln xmlns:a="http://schemas.openxmlformats.org/drawingml/2006/main" w="0">
            <a:solidFill>
              <a:srgbClr val="D9DE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98739-16BB-4E3F-A3EA-AF362A3B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6B01-42C5-487A-8F2B-4A20EFF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28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Заявки в одной системе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BC83A-5DF1-4121-A0F4-DB21366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DEE4A-62E6-4D40-8E46-1709F5C0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Карточка клиента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A78D8-5B82-4794-9F8D-DCFA3D6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0E7B6-84A5-47DA-8C0D-6DE516E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История автомобиля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00CDE-BED4-4A9B-9A33-52A7697B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CCD00-2442-40FE-8A42-2D225F87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Контроль этапа работы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67DFC-9DB6-404B-A219-990DBCE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95172-0C30-4E00-81C4-B5A7A4F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Ответственный за клиента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CF7A-3025-4213-85B7-DBAC9128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60AD5-4C7B-4E37-AB9D-4714735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Источник заявки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3210B-4C9E-45E0-BE02-CB679AA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5BE8D-8644-45D3-A9A5-827B196C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Дата следующего контакта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73814-D323-47BA-A2C7-45D1B3C5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DAE31-0908-4A9B-A3C8-B3F348ED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Системный сбор отзывов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19155-3BC3-419E-A7F3-D21AC9C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9D84F-9DA1-4044-96C8-17B9BF51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База для повторных продаж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52F4A-FCF7-4E36-97E9-DDB6469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16154-A4F5-4660-895B-F44CDF13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Понятные показатели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6D918-8A6E-4B85-B892-0092EC4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3EA52-DDD9-48CF-8B4D-EBFF376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386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Публичная страница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076A1-A328-4367-AFE7-0882148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ACD52-6562-4C28-9CC3-D3B44288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1F"/>
                </a:solidFill>
                <a:latin typeface="Arial"/>
                <a:ea typeface="Arial"/>
                <a:cs typeface="Arial"/>
              </a:defRPr>
            </a:pPr>
            <a:r>
              <a:t>План внедрения CRM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2DB5AB-BA6C-4AC6-942A-3BE7A780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876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DFF2E7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4+ “нет” — повод подключить КарПас и начать фиксировать клиентов, авто и визиты.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FC2F8-EF02-4D64-A4B9-3426302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КарПас CRM · carpasss.ru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21B671-9534-4858-90FE-785309EE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F7F8F4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90728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BE088-FC24-4802-895F-542BD5F2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019CD-16C9-4F62-B794-671832B1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3F35"/>
          </a:solidFill>
          <a:ln xmlns:a="http://schemas.openxmlformats.org/drawingml/2006/main" w="9525">
            <a:solidFill>
              <a:srgbClr val="243F35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2DD"/>
                </a:solidFill>
                <a:latin typeface="Arial"/>
                <a:ea typeface="Arial"/>
                <a:cs typeface="Arial"/>
              </a:defRPr>
            </a:pPr>
            <a:r>
              <a:t>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EE943-F188-4F26-AE07-9F43243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Подключите КарПас CRM</a:t>
            </a:r>
          </a:p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и заведите первых клиентов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EBE84-9831-4A5C-AD88-778BE09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09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7E1"/>
                </a:solidFill>
                <a:latin typeface="Arial"/>
                <a:ea typeface="Arial"/>
                <a:cs typeface="Arial"/>
              </a:defRPr>
            </a:pPr>
            <a:r>
              <a:t>Сейчас доступ к текущему функционалу на этапе запуска бесплатный. Начните с заявки партнера, а после подтверждения настройте публичную страницу и кабинет сервиса.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FC84C-47BC-42F1-A6D0-812EDB0A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49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88DC7-8CF4-47CF-A1B3-1047B8C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66850"/>
            <a:ext cx="2133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F7C5F-39D6-4BBE-AF02-1A748470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1638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F"/>
          </a:solidFill>
          <a:ln xmlns:a="http://schemas.openxmlformats.org/drawingml/2006/main" w="0">
            <a:solidFill>
              <a:srgbClr val="F1F4E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01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QR</a:t>
            </a:r>
          </a:p>
          <a:p xmlns:a="http://schemas.openxmlformats.org/drawingml/2006/main">
            <a:pPr algn="ctr">
              <a:defRPr sz="25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t>carpasss.ru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E78D8-9F1A-4D80-A463-8F885DF4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004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78"/>
                </a:solidFill>
                <a:latin typeface="Arial"/>
                <a:ea typeface="Arial"/>
                <a:cs typeface="Arial"/>
              </a:defRPr>
            </a:pPr>
            <a:r>
              <a:t>Место для настоящего QR-кода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F104B-E4E2-4DB0-B255-C5E6B14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85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F7A5C"/>
          </a:solidFill>
          <a:ln xmlns:a="http://schemas.openxmlformats.org/drawingml/2006/main" w="9525">
            <a:solidFill>
              <a:srgbClr val="1F7A5C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carpasss.ru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6AA9C-C410-4A9E-84B5-EBBAD0E0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1"/>
                </a:solidFill>
                <a:latin typeface="Arial"/>
                <a:ea typeface="Arial"/>
                <a:cs typeface="Arial"/>
              </a:defRPr>
            </a:pPr>
            <a:r>
              <a:t>Финальная фраза: “Цифровизация начинается не с большой стратегии, а с первого клиента, которого вы перестали терять”.</a:t>
            </a:r>
          </a:p>
        </p:txBody>
      </p:sp>
    </p:spTree>
    <p:extLst>
      <p:ext uri="{BB962C8B-B14F-4D97-AF65-F5344CB8AC3E}">
        <p14:creationId xmlns:p14="http://schemas.microsoft.com/office/powerpoint/2010/main" val="1150804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2026-06-02T15:57:10.4690000Z</dcterms:created>
  <dcterms:modified xsi:type="dcterms:W3CDTF">2026-06-02T15:57:10.4690000Z</dcterms:modified>
</coreProperties>
</file>